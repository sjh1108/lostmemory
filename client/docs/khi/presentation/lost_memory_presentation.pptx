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발견</c:v>
                </c:pt>
              </c:strCache>
            </c:strRef>
          </c:tx>
          <c:spPr>
            <a:solidFill>
              <a:srgbClr val="FF52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v1</c:v>
                  </c:pt>
                  <c:pt idx="1">
                    <c:v>v2</c:v>
                  </c:pt>
                  <c:pt idx="2">
                    <c:v>v3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8</c:v>
                </c:pt>
                <c:pt idx="2">
                  <c:v>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해결</c:v>
                </c:pt>
              </c:strCache>
            </c:strRef>
          </c:tx>
          <c:spPr>
            <a:solidFill>
              <a:srgbClr val="81C78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v1</c:v>
                  </c:pt>
                  <c:pt idx="1">
                    <c:v>v2</c:v>
                  </c:pt>
                  <c:pt idx="2">
                    <c:v>v3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</c:v>
                </c:pt>
                <c:pt idx="1">
                  <c:v>7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B0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5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B0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A8B0C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204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만족도</c:v>
                </c:pt>
              </c:strCache>
            </c:strRef>
          </c:tx>
          <c:spPr>
            <a:solidFill>
              <a:srgbClr val="FF6B9D"/>
            </a:solidFill>
            <a:ln w="50800" cap="flat">
              <a:solidFill>
                <a:srgbClr val="FF6B9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0"/>
            <c:spPr>
              <a:solidFill>
                <a:srgbClr val="FF6B9D"/>
              </a:solidFill>
              <a:ln w="9525" cap="flat">
                <a:solidFill>
                  <a:srgbClr val="FF6B9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v1</c:v>
                  </c:pt>
                  <c:pt idx="1">
                    <c:v>v2</c:v>
                  </c:pt>
                  <c:pt idx="2">
                    <c:v>v3</c:v>
                  </c:pt>
                  <c:pt idx="3">
                    <c:v>Final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74</c:v>
                </c:pt>
                <c:pt idx="2">
                  <c:v>83</c:v>
                </c:pt>
                <c:pt idx="3">
                  <c:v>91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B0C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2A356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8B0C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F2C5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gif"/><Relationship Id="rId2" Type="http://schemas.openxmlformats.org/officeDocument/2006/relationships/image" Target="../media/image-1-2.gif"/><Relationship Id="rId3" Type="http://schemas.openxmlformats.org/officeDocument/2006/relationships/image" Target="../media/image-1-3.gif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gif"/><Relationship Id="rId2" Type="http://schemas.openxmlformats.org/officeDocument/2006/relationships/image" Target="../media/image-10-2.gif"/><Relationship Id="rId3" Type="http://schemas.openxmlformats.org/officeDocument/2006/relationships/image" Target="../media/image-10-3.gif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gif"/><Relationship Id="rId2" Type="http://schemas.openxmlformats.org/officeDocument/2006/relationships/image" Target="../media/image-18-2.gif"/><Relationship Id="rId3" Type="http://schemas.openxmlformats.org/officeDocument/2006/relationships/image" Target="../media/image-18-3.gif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011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S14 자율프로젝트  ·  광주 C201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spc="400" kern="0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LOST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37033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spc="400" kern="0" dirty="0">
                <a:solidFill>
                  <a:srgbClr val="FF6B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MEMORY</a:t>
            </a:r>
            <a:endParaRPr lang="en-US" sz="11000" dirty="0"/>
          </a:p>
        </p:txBody>
      </p:sp>
      <p:sp>
        <p:nvSpPr>
          <p:cNvPr id="6" name="Text 4"/>
          <p:cNvSpPr/>
          <p:nvPr/>
        </p:nvSpPr>
        <p:spPr>
          <a:xfrm>
            <a:off x="731520" y="4983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멸망한 세계에서, 다시 강해지기 위한 훈련</a:t>
            </a:r>
            <a:endParaRPr lang="en-US" sz="1800" dirty="0"/>
          </a:p>
        </p:txBody>
      </p:sp>
      <p:pic>
        <p:nvPicPr>
          <p:cNvPr id="7" name="Image 0" descr="C:/Users/SSAFY/Downloads/run_front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0" y="1645920"/>
            <a:ext cx="1371600" cy="1371600"/>
          </a:xfrm>
          <a:prstGeom prst="rect">
            <a:avLst/>
          </a:prstGeom>
        </p:spPr>
      </p:pic>
      <p:pic>
        <p:nvPicPr>
          <p:cNvPr id="8" name="Image 1" descr="C:/Users/SSAFY/Downloads/stay_front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2926080"/>
            <a:ext cx="1097280" cy="1097280"/>
          </a:xfrm>
          <a:prstGeom prst="rect">
            <a:avLst/>
          </a:prstGeom>
        </p:spPr>
      </p:pic>
      <p:pic>
        <p:nvPicPr>
          <p:cNvPr id="9" name="Image 2" descr="C:/Users/SSAFY/Downloads/run_back.gi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931920"/>
            <a:ext cx="1188720" cy="11887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731520" y="6035040"/>
            <a:ext cx="3200400" cy="0"/>
          </a:xfrm>
          <a:prstGeom prst="line">
            <a:avLst/>
          </a:prstGeom>
          <a:noFill/>
          <a:ln w="25400">
            <a:solidFill>
              <a:srgbClr val="FFD54F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73152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 ·  김회인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503920" y="6309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Press Any Key to Start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스토리 — 잠깐, 만약에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어그로 한 번 끌고 가겠습니다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"갑자기 세상이 멸망한다면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D5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하시겠어요?"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731520" y="4526280"/>
            <a:ext cx="5486400" cy="0"/>
          </a:xfrm>
          <a:prstGeom prst="line">
            <a:avLst/>
          </a:prstGeom>
          <a:noFill/>
          <a:ln w="25400">
            <a:solidFill>
              <a:srgbClr val="FF6B9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47548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FF6B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"취업했는데  다시  싸피 14기가  되셨다면?"</a:t>
            </a:r>
            <a:endParaRPr lang="en-US" sz="2600" dirty="0"/>
          </a:p>
        </p:txBody>
      </p:sp>
      <p:pic>
        <p:nvPicPr>
          <p:cNvPr id="10" name="Image 0" descr="C:/Users/SSAFY/Downloads/hurt_front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484632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스토리 — 주인공 시점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됐다고 칩시다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2377440"/>
            <a:ext cx="2651760" cy="3840480"/>
          </a:xfrm>
          <a:prstGeom prst="rect">
            <a:avLst/>
          </a:prstGeom>
          <a:solidFill>
            <a:srgbClr val="16204A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30352" y="2377440"/>
            <a:ext cx="2651760" cy="7315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2651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13232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세상이 멸망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04672" y="42976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어쩌구 저쩌구 인게임 컷씬처럼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46704" y="2377440"/>
            <a:ext cx="2651760" cy="3840480"/>
          </a:xfrm>
          <a:prstGeom prst="rect">
            <a:avLst/>
          </a:prstGeom>
          <a:solidFill>
            <a:srgbClr val="16204A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46704" y="2377440"/>
            <a:ext cx="2651760" cy="7315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21024" y="2651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29584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훈련 시스템 구축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621024" y="42976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멸망을 막기 위해 컴퓨터 훈련 시스템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63056" y="2377440"/>
            <a:ext cx="2651760" cy="3840480"/>
          </a:xfrm>
          <a:prstGeom prst="rect">
            <a:avLst/>
          </a:prstGeom>
          <a:solidFill>
            <a:srgbClr val="16204A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63056" y="2377440"/>
            <a:ext cx="2651760" cy="7315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37376" y="2651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345936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주인공 진입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437376" y="42976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강해지기 위해 훈련을 시작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79408" y="2377440"/>
            <a:ext cx="2651760" cy="3840480"/>
          </a:xfrm>
          <a:prstGeom prst="rect">
            <a:avLst/>
          </a:prstGeom>
          <a:solidFill>
            <a:srgbClr val="16204A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979408" y="2377440"/>
            <a:ext cx="2651760" cy="7315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53728" y="26517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162288" y="3246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강해진다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253728" y="42976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세상을 구하러 간다</a:t>
            </a:r>
            <a:endParaRPr lang="en-US" sz="1200" dirty="0"/>
          </a:p>
        </p:txBody>
      </p:sp>
      <p:pic>
        <p:nvPicPr>
          <p:cNvPr id="26" name="Image 0" descr="C:/Users/SSAFY/Downloads/run_front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626364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플레이 영상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백 마디 설명보다 한 컷의 영상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71600" y="2377440"/>
            <a:ext cx="9418320" cy="3657600"/>
          </a:xfrm>
          <a:prstGeom prst="rect">
            <a:avLst/>
          </a:prstGeom>
          <a:solidFill>
            <a:srgbClr val="16204A"/>
          </a:solidFill>
          <a:ln w="19050">
            <a:solidFill>
              <a:srgbClr val="FFD54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1371600" y="37947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5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▶  플레이 영상 포폴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42519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~ 2분 · 핵심 플레이 컷 모음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61722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일단 보시죠.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 소개 — 로그라이크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판이 곧 한 번의 모험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3840480" cy="4023360"/>
          </a:xfrm>
          <a:prstGeom prst="rect">
            <a:avLst/>
          </a:prstGeom>
          <a:solidFill>
            <a:srgbClr val="16204A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377440"/>
            <a:ext cx="3840480" cy="73152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pic>
        <p:nvPicPr>
          <p:cNvPr id="8" name="Image 0" descr="C:/Users/SSAFY/Downloads/die_front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2651760"/>
            <a:ext cx="1463040" cy="1463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425196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25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죽으면 끝.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914400" y="484632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죽으면 그 템 다시 못 얻고,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처음부터.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937760" y="2377440"/>
            <a:ext cx="6492240" cy="4023360"/>
          </a:xfrm>
          <a:prstGeom prst="rect">
            <a:avLst/>
          </a:prstGeom>
          <a:solidFill>
            <a:srgbClr val="16204A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937760" y="2377440"/>
            <a:ext cx="6492240" cy="7315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120640" y="260604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5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— 매 판이 다르다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5120640" y="3246120"/>
            <a:ext cx="6126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 클리어마다 새로운 아이템을 선택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인벤토리 안에서 여러 빌드 조합 가능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조합에 따라 세트 효과 발동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나만의 랜덤 빌드를 매번 새로 짤 수 있음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컨텐츠 — 무기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1개 였습니다.   →   이제 6개입니다.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5212080" cy="3840480"/>
          </a:xfrm>
          <a:prstGeom prst="rect">
            <a:avLst/>
          </a:prstGeom>
          <a:solidFill>
            <a:srgbClr val="16204A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51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A8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8000" dirty="0"/>
          </a:p>
        </p:txBody>
      </p:sp>
      <p:sp>
        <p:nvSpPr>
          <p:cNvPr id="9" name="Text 7"/>
          <p:cNvSpPr/>
          <p:nvPr/>
        </p:nvSpPr>
        <p:spPr>
          <a:xfrm>
            <a:off x="914400" y="5349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무기 1종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0" y="402336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6309360" y="2468880"/>
            <a:ext cx="5212080" cy="3840480"/>
          </a:xfrm>
          <a:prstGeom prst="rect">
            <a:avLst/>
          </a:prstGeom>
          <a:solidFill>
            <a:srgbClr val="1F2C5C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2468880"/>
            <a:ext cx="5212080" cy="9144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697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310896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8000" dirty="0"/>
          </a:p>
        </p:txBody>
      </p:sp>
      <p:sp>
        <p:nvSpPr>
          <p:cNvPr id="15" name="Text 13"/>
          <p:cNvSpPr/>
          <p:nvPr/>
        </p:nvSpPr>
        <p:spPr>
          <a:xfrm>
            <a:off x="6492240" y="5349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무기 6종!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컨텐츠 — 아이템 &amp; 세트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조합의 수, 한 번 보시죠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474720" cy="2103120"/>
          </a:xfrm>
          <a:prstGeom prst="rect">
            <a:avLst/>
          </a:prstGeom>
          <a:solidFill>
            <a:srgbClr val="16204A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468880"/>
            <a:ext cx="91440" cy="210312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아이템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</a:t>
            </a:r>
            <a:pPr indent="0" marL="0">
              <a:buNone/>
            </a:pPr>
            <a:r>
              <a:rPr lang="en-US" sz="2400" dirty="0">
                <a:solidFill>
                  <a:srgbClr val="A8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개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방마다 새로 등장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43400" y="2468880"/>
            <a:ext cx="3474720" cy="2103120"/>
          </a:xfrm>
          <a:prstGeom prst="rect">
            <a:avLst/>
          </a:prstGeom>
          <a:solidFill>
            <a:srgbClr val="16204A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2468880"/>
            <a:ext cx="91440" cy="210312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세트 효과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17720" y="31089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buNone/>
            </a:pPr>
            <a:r>
              <a:rPr lang="en-US" sz="2400" dirty="0">
                <a:solidFill>
                  <a:srgbClr val="A8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종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461772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조합 시 자동 발동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2468880"/>
            <a:ext cx="3474720" cy="2103120"/>
          </a:xfrm>
          <a:prstGeom prst="rect">
            <a:avLst/>
          </a:prstGeom>
          <a:solidFill>
            <a:srgbClr val="16204A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2468880"/>
            <a:ext cx="91440" cy="210312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인벤토리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0" y="31089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</a:t>
            </a:r>
            <a:pPr indent="0" marL="0">
              <a:buNone/>
            </a:pPr>
            <a:r>
              <a:rPr lang="en-US" sz="2400" dirty="0">
                <a:solidFill>
                  <a:srgbClr val="A8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칸</a:t>
            </a:r>
            <a:endParaRPr lang="en-US" sz="6400" dirty="0"/>
          </a:p>
        </p:txBody>
      </p:sp>
      <p:sp>
        <p:nvSpPr>
          <p:cNvPr id="20" name="Text 18"/>
          <p:cNvSpPr/>
          <p:nvPr/>
        </p:nvSpPr>
        <p:spPr>
          <a:xfrm>
            <a:off x="8412480" y="41605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고민할 자리는 충분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937760"/>
            <a:ext cx="10698480" cy="1463040"/>
          </a:xfrm>
          <a:prstGeom prst="rect">
            <a:avLst/>
          </a:prstGeom>
          <a:solidFill>
            <a:srgbClr val="1F2C5C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937760"/>
            <a:ext cx="91440" cy="146304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5212080"/>
            <a:ext cx="731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737360" y="50292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NNNNNNNNNNNNNNN</a:t>
            </a:r>
            <a:endParaRPr lang="en-US" sz="4400" dirty="0"/>
          </a:p>
        </p:txBody>
      </p:sp>
      <p:sp>
        <p:nvSpPr>
          <p:cNvPr id="25" name="Text 23"/>
          <p:cNvSpPr/>
          <p:nvPr/>
        </p:nvSpPr>
        <p:spPr>
          <a:xfrm>
            <a:off x="9144000" y="5212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가지 조합 가능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3152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※  실제 수치는 발표 직전 채워서 갱신 예정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컨텐츠 — 재능 시스템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취향대로, 내 캐릭터를 키워서 시작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5943600" cy="4023360"/>
          </a:xfrm>
          <a:prstGeom prst="rect">
            <a:avLst/>
          </a:prstGeom>
          <a:solidFill>
            <a:srgbClr val="16204A"/>
          </a:solidFill>
          <a:ln w="19050">
            <a:solidFill>
              <a:srgbClr val="FFD54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31520" y="39776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5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재능 트리 / 패시브 UI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스크린샷 또는 GIF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49440" y="2468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Talent Tree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49440" y="28803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취향대로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재능 포인트를 찍고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949440" y="425196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본인만의 강력한 캐릭터로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게임을 시작할 수 있습니다.</a:t>
            </a:r>
            <a:endParaRPr lang="en-US" sz="1600" dirty="0"/>
          </a:p>
        </p:txBody>
      </p:sp>
      <p:pic>
        <p:nvPicPr>
          <p:cNvPr id="12" name="Image 0" descr="C:/Users/SSAFY/Downloads/stay_front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5440680"/>
            <a:ext cx="1097280" cy="10972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94944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내 캐릭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컨텐츠 — NPC와 LLM 대화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정해진 대사가 아니라, 진짜 대화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6400800" cy="4023360"/>
          </a:xfrm>
          <a:prstGeom prst="rect">
            <a:avLst/>
          </a:prstGeom>
          <a:solidFill>
            <a:srgbClr val="16204A"/>
          </a:solidFill>
          <a:ln w="19050">
            <a:solidFill>
              <a:srgbClr val="FFD54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31520" y="3977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5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NPC ↔ LLM 대화 GIF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게임 화면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498080" y="2468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5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활용?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498080" y="3017520"/>
            <a:ext cx="4206240" cy="914400"/>
          </a:xfrm>
          <a:prstGeom prst="rect">
            <a:avLst/>
          </a:prstGeom>
          <a:solidFill>
            <a:srgbClr val="16204A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0" y="3017520"/>
            <a:ext cx="73152" cy="9144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26680" y="31272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26680" y="34290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NPC 대사를 실시간 생성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0" y="4114800"/>
            <a:ext cx="4206240" cy="914400"/>
          </a:xfrm>
          <a:prstGeom prst="rect">
            <a:avLst/>
          </a:prstGeom>
          <a:solidFill>
            <a:srgbClr val="16204A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0" y="4114800"/>
            <a:ext cx="73152" cy="9144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42245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26680" y="4526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숨겨진 이야기 물어보기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498080" y="5212080"/>
            <a:ext cx="4206240" cy="914400"/>
          </a:xfrm>
          <a:prstGeom prst="rect">
            <a:avLst/>
          </a:prstGeom>
          <a:solidFill>
            <a:srgbClr val="16204A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0" y="5212080"/>
            <a:ext cx="73152" cy="9144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26680" y="532180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26680" y="56235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다양한 형태의 교류 가능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— 직접 보여드립니다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3인 멀티 플레이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25880" y="2468880"/>
            <a:ext cx="2560320" cy="2286000"/>
          </a:xfrm>
          <a:prstGeom prst="rect">
            <a:avLst/>
          </a:prstGeom>
          <a:solidFill>
            <a:srgbClr val="16204A"/>
          </a:solidFill>
          <a:ln w="9525">
            <a:solidFill>
              <a:srgbClr val="2A356A"/>
            </a:solidFill>
            <a:prstDash val="solid"/>
          </a:ln>
        </p:spPr>
      </p:sp>
      <p:pic>
        <p:nvPicPr>
          <p:cNvPr id="7" name="Image 0" descr="C:/Users/SSAFY/Downloads/stay_front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2834640"/>
            <a:ext cx="914400" cy="91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39319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마을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3886200" y="3246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3200" dirty="0"/>
          </a:p>
        </p:txBody>
      </p:sp>
      <p:sp>
        <p:nvSpPr>
          <p:cNvPr id="10" name="Shape 7"/>
          <p:cNvSpPr/>
          <p:nvPr/>
        </p:nvSpPr>
        <p:spPr>
          <a:xfrm>
            <a:off x="4800600" y="2468880"/>
            <a:ext cx="2560320" cy="2286000"/>
          </a:xfrm>
          <a:prstGeom prst="rect">
            <a:avLst/>
          </a:prstGeom>
          <a:solidFill>
            <a:srgbClr val="16204A"/>
          </a:solidFill>
          <a:ln w="9525">
            <a:solidFill>
              <a:srgbClr val="2A356A"/>
            </a:solidFill>
            <a:prstDash val="solid"/>
          </a:ln>
        </p:spPr>
      </p:sp>
      <p:pic>
        <p:nvPicPr>
          <p:cNvPr id="11" name="Image 1" descr="C:/Users/SSAFY/Downloads/run_front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2834640"/>
            <a:ext cx="914400" cy="9144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00600" y="39319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전투</a:t>
            </a:r>
            <a:endParaRPr lang="en-US" sz="2600" dirty="0"/>
          </a:p>
        </p:txBody>
      </p:sp>
      <p:sp>
        <p:nvSpPr>
          <p:cNvPr id="13" name="Text 9"/>
          <p:cNvSpPr/>
          <p:nvPr/>
        </p:nvSpPr>
        <p:spPr>
          <a:xfrm>
            <a:off x="7360920" y="3246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3200" dirty="0"/>
          </a:p>
        </p:txBody>
      </p:sp>
      <p:sp>
        <p:nvSpPr>
          <p:cNvPr id="14" name="Shape 10"/>
          <p:cNvSpPr/>
          <p:nvPr/>
        </p:nvSpPr>
        <p:spPr>
          <a:xfrm>
            <a:off x="8275320" y="2468880"/>
            <a:ext cx="2560320" cy="2286000"/>
          </a:xfrm>
          <a:prstGeom prst="rect">
            <a:avLst/>
          </a:prstGeom>
          <a:solidFill>
            <a:srgbClr val="16204A"/>
          </a:solidFill>
          <a:ln w="9525">
            <a:solidFill>
              <a:srgbClr val="2A356A"/>
            </a:solidFill>
            <a:prstDash val="solid"/>
          </a:ln>
        </p:spPr>
      </p:sp>
      <p:pic>
        <p:nvPicPr>
          <p:cNvPr id="15" name="Image 2" descr="C:/Users/SSAFY/Downloads/hurt_front.gi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2834640"/>
            <a:ext cx="914400" cy="9144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75320" y="39319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보스</a:t>
            </a:r>
            <a:endParaRPr lang="en-US" sz="2600" dirty="0"/>
          </a:p>
        </p:txBody>
      </p:sp>
      <p:sp>
        <p:nvSpPr>
          <p:cNvPr id="17" name="Shape 12"/>
          <p:cNvSpPr/>
          <p:nvPr/>
        </p:nvSpPr>
        <p:spPr>
          <a:xfrm>
            <a:off x="731520" y="5212080"/>
            <a:ext cx="10698480" cy="1005840"/>
          </a:xfrm>
          <a:prstGeom prst="rect">
            <a:avLst/>
          </a:prstGeom>
          <a:solidFill>
            <a:srgbClr val="1F2C5C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14400" y="53035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3인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1920240" y="53035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멀티 플레이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480560" y="53035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1인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5486400" y="53035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/ 백업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8046720" y="530352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1인</a:t>
            </a:r>
            <a:endParaRPr lang="en-US" sz="2200" dirty="0"/>
          </a:p>
        </p:txBody>
      </p:sp>
      <p:sp>
        <p:nvSpPr>
          <p:cNvPr id="23" name="Text 18"/>
          <p:cNvSpPr/>
          <p:nvPr/>
        </p:nvSpPr>
        <p:spPr>
          <a:xfrm>
            <a:off x="9052560" y="53035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조율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— ComfyUI 란?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고민 · 선택 · 적용 · 결과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5212080" cy="4023360"/>
          </a:xfrm>
          <a:prstGeom prst="rect">
            <a:avLst/>
          </a:prstGeom>
          <a:solidFill>
            <a:srgbClr val="16204A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60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한 줄 요약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"로컬에서 돌리고,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블럭을 내 맘대로 조절해서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나만의 그림을 만들어 내는 도구"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544068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GPU에서 노드를 이어붙여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이미지·LLM·오디오 파이프라인을 조립.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468880"/>
            <a:ext cx="5212080" cy="868680"/>
          </a:xfrm>
          <a:prstGeom prst="rect">
            <a:avLst/>
          </a:prstGeom>
          <a:solidFill>
            <a:srgbClr val="1F2C5C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2468880"/>
            <a:ext cx="73152" cy="86868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60604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5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고민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80960" y="26060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API 비용·지연·검열 이슈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3493008"/>
            <a:ext cx="5212080" cy="868680"/>
          </a:xfrm>
          <a:prstGeom prst="rect">
            <a:avLst/>
          </a:prstGeom>
          <a:solidFill>
            <a:srgbClr val="1F2C5C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3493008"/>
            <a:ext cx="73152" cy="86868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3630168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5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80960" y="363016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ComfyUI + 로컬 GPU 조합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4517136"/>
            <a:ext cx="5212080" cy="868680"/>
          </a:xfrm>
          <a:prstGeom prst="rect">
            <a:avLst/>
          </a:prstGeom>
          <a:solidFill>
            <a:srgbClr val="1F2C5C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9360" y="4517136"/>
            <a:ext cx="73152" cy="86868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4654296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5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적용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680960" y="465429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노드 그래프로 파이프라인 구성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09360" y="5541264"/>
            <a:ext cx="5212080" cy="868680"/>
          </a:xfrm>
          <a:prstGeom prst="rect">
            <a:avLst/>
          </a:prstGeom>
          <a:solidFill>
            <a:srgbClr val="1F2C5C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09360" y="5541264"/>
            <a:ext cx="73152" cy="86868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5678424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D5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680960" y="5678424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비용 0, 자유로운 커스터마이즈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— ComfyUI 활용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주헌이가 만든 예시로 설명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6400800" cy="4023360"/>
          </a:xfrm>
          <a:prstGeom prst="rect">
            <a:avLst/>
          </a:prstGeom>
          <a:solidFill>
            <a:srgbClr val="16204A"/>
          </a:solidFill>
          <a:ln w="19050">
            <a:solidFill>
              <a:srgbClr val="FFD54F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731520" y="3977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5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ComfyUI 워크플로 스크린샷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주헌이 작업물 + 노드 그래프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8080" y="2377440"/>
            <a:ext cx="4206240" cy="868680"/>
          </a:xfrm>
          <a:prstGeom prst="rect">
            <a:avLst/>
          </a:prstGeom>
          <a:solidFill>
            <a:srgbClr val="16204A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0" y="2377440"/>
            <a:ext cx="73152" cy="86868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26680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image to image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26680" y="2788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이미지를 입력으로 변환 생성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3383280"/>
            <a:ext cx="4206240" cy="868680"/>
          </a:xfrm>
          <a:prstGeom prst="rect">
            <a:avLst/>
          </a:prstGeom>
          <a:solidFill>
            <a:srgbClr val="16204A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0" y="3383280"/>
            <a:ext cx="73152" cy="86868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26680" y="3474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 방식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26680" y="37947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기능 단위를 노드로 연결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98080" y="4389120"/>
            <a:ext cx="4206240" cy="868680"/>
          </a:xfrm>
          <a:prstGeom prst="rect">
            <a:avLst/>
          </a:prstGeom>
          <a:solidFill>
            <a:srgbClr val="16204A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0" y="4389120"/>
            <a:ext cx="73152" cy="86868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26680" y="4480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 종류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26680" y="48006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Loader / Sampler / Latent / ...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498080" y="5394960"/>
            <a:ext cx="4206240" cy="868680"/>
          </a:xfrm>
          <a:prstGeom prst="rect">
            <a:avLst/>
          </a:prstGeom>
          <a:solidFill>
            <a:srgbClr val="16204A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0" y="5394960"/>
            <a:ext cx="73152" cy="86868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26680" y="5486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B9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어려웠던 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726680" y="5806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필요한 노드 찾기 + 자원 관리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— 빌드 최적화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40분 → 1분, 어떻게 줄였나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468880"/>
            <a:ext cx="5212080" cy="3931920"/>
          </a:xfrm>
          <a:prstGeom prst="rect">
            <a:avLst/>
          </a:prstGeom>
          <a:solidFill>
            <a:srgbClr val="16204A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517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BEFORE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A8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pPr indent="0" marL="0">
              <a:buNone/>
            </a:pPr>
            <a:r>
              <a:rPr lang="en-US" sz="3600" dirty="0">
                <a:solidFill>
                  <a:srgbClr val="A8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분</a:t>
            </a:r>
            <a:endParaRPr lang="en-US" sz="13000" dirty="0"/>
          </a:p>
        </p:txBody>
      </p:sp>
      <p:sp>
        <p:nvSpPr>
          <p:cNvPr id="9" name="Text 7"/>
          <p:cNvSpPr/>
          <p:nvPr/>
        </p:nvSpPr>
        <p:spPr>
          <a:xfrm>
            <a:off x="914400" y="50292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매번 30~40분짜리 빌드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원인: asset을 너무 많이 사용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지우면 빠르지만 깨짐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402336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6309360" y="2468880"/>
            <a:ext cx="5212080" cy="3931920"/>
          </a:xfrm>
          <a:prstGeom prst="rect">
            <a:avLst/>
          </a:prstGeom>
          <a:solidFill>
            <a:srgbClr val="1F2C5C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2468880"/>
            <a:ext cx="5212080" cy="9144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697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3108960"/>
            <a:ext cx="4846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indent="0" marL="0">
              <a:buNone/>
            </a:pPr>
            <a:r>
              <a:rPr lang="en-US" sz="3600" dirty="0">
                <a:solidFill>
                  <a:srgbClr val="FFFF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분</a:t>
            </a:r>
            <a:endParaRPr lang="en-US" sz="13000" dirty="0"/>
          </a:p>
        </p:txBody>
      </p:sp>
      <p:sp>
        <p:nvSpPr>
          <p:cNvPr id="15" name="Text 13"/>
          <p:cNvSpPr/>
          <p:nvPr/>
        </p:nvSpPr>
        <p:spPr>
          <a:xfrm>
            <a:off x="6492240" y="50292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URP 방식으로 미리 render 캐싱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안 쓰는 asset만 정리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깨짐 없이 빌드 시간 ↓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— 커스텀 Editor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수치를 게임 안에서 바로 만지기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5212080" cy="4023360"/>
          </a:xfrm>
          <a:prstGeom prst="rect">
            <a:avLst/>
          </a:prstGeom>
          <a:solidFill>
            <a:srgbClr val="16204A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60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0175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DB 값 하나 바꾸려고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게임을 매번 재시작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14400" y="46634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수치를 DB로 두면 테스트가 느림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인스펙터로 일일이 보기엔 불편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밸런스 패치 한 번에 한참 걸림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0" y="4023360"/>
            <a:ext cx="274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4000" dirty="0"/>
          </a:p>
        </p:txBody>
      </p:sp>
      <p:sp>
        <p:nvSpPr>
          <p:cNvPr id="11" name="Shape 9"/>
          <p:cNvSpPr/>
          <p:nvPr/>
        </p:nvSpPr>
        <p:spPr>
          <a:xfrm>
            <a:off x="6309360" y="2377440"/>
            <a:ext cx="5212080" cy="4023360"/>
          </a:xfrm>
          <a:prstGeom prst="rect">
            <a:avLst/>
          </a:prstGeom>
          <a:solidFill>
            <a:srgbClr val="1F2C5C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09360" y="2377440"/>
            <a:ext cx="5212080" cy="9144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SOLUTION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301752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커스텀 Editor로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분리해서 핫 리로드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92240" y="46634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수치를 별도 Editor로 분리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플레이 중에 값 변경 즉시 반영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밸런싱 속도 체감상 수 배 빨라짐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 피드백 사이클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Google Form → 문제 발견 → 해결 → 다시 Form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2560320"/>
            <a:ext cx="2651760" cy="3200400"/>
          </a:xfrm>
          <a:prstGeom prst="rect">
            <a:avLst/>
          </a:prstGeom>
          <a:solidFill>
            <a:srgbClr val="16204A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90472" y="2880360"/>
            <a:ext cx="731520" cy="731520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90472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Form 배포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13232" y="43891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버전마다 설문 진행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46704" y="2560320"/>
            <a:ext cx="2651760" cy="3200400"/>
          </a:xfrm>
          <a:prstGeom prst="rect">
            <a:avLst/>
          </a:prstGeom>
          <a:solidFill>
            <a:srgbClr val="16204A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06824" y="2880360"/>
            <a:ext cx="731520" cy="731520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06824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29584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문제 발견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529584" y="43891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 시선의 이슈를 수집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63056" y="2560320"/>
            <a:ext cx="2651760" cy="3200400"/>
          </a:xfrm>
          <a:prstGeom prst="rect">
            <a:avLst/>
          </a:prstGeom>
          <a:solidFill>
            <a:srgbClr val="16204A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23176" y="2880360"/>
            <a:ext cx="731520" cy="731520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23176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45936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/ 패치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45936" y="43891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버전에 반영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979408" y="2560320"/>
            <a:ext cx="2651760" cy="3200400"/>
          </a:xfrm>
          <a:prstGeom prst="rect">
            <a:avLst/>
          </a:prstGeom>
          <a:solidFill>
            <a:srgbClr val="16204A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39528" y="2880360"/>
            <a:ext cx="731520" cy="731520"/>
          </a:xfrm>
          <a:prstGeom prst="ellipse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39528" y="28803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162288" y="3794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재설문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62288" y="438912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만족도 변화 측정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D5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↻  버전을 거듭할수록 만족도가 올라갔습니다.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피드백 결과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 보는 개선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5486400" cy="4023360"/>
          </a:xfrm>
          <a:prstGeom prst="rect">
            <a:avLst/>
          </a:prstGeom>
          <a:solidFill>
            <a:srgbClr val="16204A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560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해결된 문제 / 버전별 이슈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914400" y="301752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400800" y="2377440"/>
            <a:ext cx="5029200" cy="4023360"/>
          </a:xfrm>
          <a:prstGeom prst="rect">
            <a:avLst/>
          </a:prstGeom>
          <a:solidFill>
            <a:srgbClr val="1F2C5C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0" y="2560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버전별 만족도 상승률</a:t>
            </a:r>
            <a:endParaRPr lang="en-US" sz="1300" dirty="0"/>
          </a:p>
        </p:txBody>
      </p:sp>
      <p:graphicFrame>
        <p:nvGraphicFramePr>
          <p:cNvPr id="11" name="Chart 1" descr=""/>
          <p:cNvGraphicFramePr/>
          <p:nvPr/>
        </p:nvGraphicFramePr>
        <p:xfrm>
          <a:off x="6583680" y="3017520"/>
          <a:ext cx="46634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8"/>
          <p:cNvSpPr/>
          <p:nvPr/>
        </p:nvSpPr>
        <p:spPr>
          <a:xfrm>
            <a:off x="73152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※  실제 수치는 최종 빌드 후 갱신 예정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남긴 것들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698480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25780" y="2560320"/>
            <a:ext cx="2606040" cy="3200400"/>
          </a:xfrm>
          <a:prstGeom prst="rect">
            <a:avLst/>
          </a:prstGeom>
          <a:solidFill>
            <a:srgbClr val="16204A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5780" y="2560320"/>
            <a:ext cx="2606040" cy="9144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8660" y="28803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다운로드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08660" y="34290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NNN</a:t>
            </a:r>
            <a:pPr indent="0" marL="0">
              <a:buNone/>
            </a:pPr>
            <a:r>
              <a:rPr lang="en-US" sz="2200" dirty="0">
                <a:solidFill>
                  <a:srgbClr val="A8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회</a:t>
            </a:r>
            <a:endParaRPr lang="en-US" sz="5600" dirty="0"/>
          </a:p>
        </p:txBody>
      </p:sp>
      <p:sp>
        <p:nvSpPr>
          <p:cNvPr id="10" name="Shape 8"/>
          <p:cNvSpPr/>
          <p:nvPr/>
        </p:nvSpPr>
        <p:spPr>
          <a:xfrm>
            <a:off x="891540" y="5029200"/>
            <a:ext cx="1874520" cy="0"/>
          </a:xfrm>
          <a:prstGeom prst="line">
            <a:avLst/>
          </a:prstGeom>
          <a:noFill/>
          <a:ln w="12700">
            <a:solidFill>
              <a:srgbClr val="2A35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" y="5166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최종 빌드 기준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60420" y="2560320"/>
            <a:ext cx="2606040" cy="3200400"/>
          </a:xfrm>
          <a:prstGeom prst="rect">
            <a:avLst/>
          </a:prstGeom>
          <a:solidFill>
            <a:srgbClr val="16204A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60420" y="2560320"/>
            <a:ext cx="2606040" cy="914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3300" y="28803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플레이어 수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43300" y="34290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</a:t>
            </a:r>
            <a:pPr indent="0" marL="0">
              <a:buNone/>
            </a:pPr>
            <a:r>
              <a:rPr lang="en-US" sz="2200" dirty="0">
                <a:solidFill>
                  <a:srgbClr val="A8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명</a:t>
            </a:r>
            <a:endParaRPr lang="en-US" sz="5600" dirty="0"/>
          </a:p>
        </p:txBody>
      </p:sp>
      <p:sp>
        <p:nvSpPr>
          <p:cNvPr id="16" name="Shape 14"/>
          <p:cNvSpPr/>
          <p:nvPr/>
        </p:nvSpPr>
        <p:spPr>
          <a:xfrm>
            <a:off x="3726180" y="5029200"/>
            <a:ext cx="1874520" cy="0"/>
          </a:xfrm>
          <a:prstGeom prst="line">
            <a:avLst/>
          </a:prstGeom>
          <a:noFill/>
          <a:ln w="12700">
            <a:solidFill>
              <a:srgbClr val="2A35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43300" y="5166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최종 빌드 기준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95060" y="2560320"/>
            <a:ext cx="2606040" cy="3200400"/>
          </a:xfrm>
          <a:prstGeom prst="rect">
            <a:avLst/>
          </a:prstGeom>
          <a:solidFill>
            <a:srgbClr val="16204A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5060" y="2560320"/>
            <a:ext cx="2606040" cy="91440"/>
          </a:xfrm>
          <a:prstGeom prst="rect">
            <a:avLst/>
          </a:prstGeom>
          <a:solidFill>
            <a:srgbClr val="81C784"/>
          </a:solidFill>
          <a:ln w="12700">
            <a:solidFill>
              <a:srgbClr val="81C78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77940" y="28803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1C78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해결한 이슈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377940" y="34290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</a:t>
            </a:r>
            <a:pPr indent="0" marL="0">
              <a:buNone/>
            </a:pPr>
            <a:r>
              <a:rPr lang="en-US" sz="2200" dirty="0">
                <a:solidFill>
                  <a:srgbClr val="A8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건</a:t>
            </a:r>
            <a:endParaRPr lang="en-US" sz="5600" dirty="0"/>
          </a:p>
        </p:txBody>
      </p:sp>
      <p:sp>
        <p:nvSpPr>
          <p:cNvPr id="22" name="Shape 20"/>
          <p:cNvSpPr/>
          <p:nvPr/>
        </p:nvSpPr>
        <p:spPr>
          <a:xfrm>
            <a:off x="6560820" y="5029200"/>
            <a:ext cx="1874520" cy="0"/>
          </a:xfrm>
          <a:prstGeom prst="line">
            <a:avLst/>
          </a:prstGeom>
          <a:noFill/>
          <a:ln w="12700">
            <a:solidFill>
              <a:srgbClr val="2A35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77940" y="5166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최종 빌드 기준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029700" y="2560320"/>
            <a:ext cx="2606040" cy="3200400"/>
          </a:xfrm>
          <a:prstGeom prst="rect">
            <a:avLst/>
          </a:prstGeom>
          <a:solidFill>
            <a:srgbClr val="16204A"/>
          </a:solidFill>
          <a:ln w="9525">
            <a:solidFill>
              <a:srgbClr val="2A35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29700" y="2560320"/>
            <a:ext cx="2606040" cy="91440"/>
          </a:xfrm>
          <a:prstGeom prst="rect">
            <a:avLst/>
          </a:prstGeom>
          <a:solidFill>
            <a:srgbClr val="FF6B9D"/>
          </a:solidFill>
          <a:ln w="12700">
            <a:solidFill>
              <a:srgbClr val="FF6B9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12580" y="28803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6B9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만족도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12580" y="34290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NN</a:t>
            </a:r>
            <a:pPr indent="0" marL="0">
              <a:buNone/>
            </a:pPr>
            <a:r>
              <a:rPr lang="en-US" sz="2200" dirty="0">
                <a:solidFill>
                  <a:srgbClr val="A8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%</a:t>
            </a:r>
            <a:endParaRPr lang="en-US" sz="5600" dirty="0"/>
          </a:p>
        </p:txBody>
      </p:sp>
      <p:sp>
        <p:nvSpPr>
          <p:cNvPr id="28" name="Shape 26"/>
          <p:cNvSpPr/>
          <p:nvPr/>
        </p:nvSpPr>
        <p:spPr>
          <a:xfrm>
            <a:off x="9395460" y="5029200"/>
            <a:ext cx="1874520" cy="0"/>
          </a:xfrm>
          <a:prstGeom prst="line">
            <a:avLst/>
          </a:prstGeom>
          <a:noFill/>
          <a:ln w="12700">
            <a:solidFill>
              <a:srgbClr val="2A35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12580" y="51663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8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최종 빌드 기준</a:t>
            </a:r>
            <a:endParaRPr lang="en-US" sz="1000" dirty="0"/>
          </a:p>
        </p:txBody>
      </p:sp>
      <p:pic>
        <p:nvPicPr>
          <p:cNvPr id="30" name="Image 0" descr="C:/Users/SSAFY/Downloads/stay_back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669280"/>
            <a:ext cx="731520" cy="73152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146304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※  실제 수치는 발표 직전 채워서 갱신 예정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011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FFD5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END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56032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 환영합니다.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731520" y="3886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B0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Lost Memory 의 어떤 부분이든 좋아요.</a:t>
            </a:r>
            <a:endParaRPr lang="en-US" sz="2200" dirty="0"/>
          </a:p>
        </p:txBody>
      </p:sp>
      <p:pic>
        <p:nvPicPr>
          <p:cNvPr id="6" name="Image 0" descr="C:/Users/SSAFY/Downloads/stay_front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0" y="4846320"/>
            <a:ext cx="914400" cy="914400"/>
          </a:xfrm>
          <a:prstGeom prst="rect">
            <a:avLst/>
          </a:prstGeom>
        </p:spPr>
      </p:pic>
      <p:pic>
        <p:nvPicPr>
          <p:cNvPr id="7" name="Image 1" descr="C:/Users/SSAFY/Downloads/run_front.gi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4846320"/>
            <a:ext cx="914400" cy="914400"/>
          </a:xfrm>
          <a:prstGeom prst="rect">
            <a:avLst/>
          </a:prstGeom>
        </p:spPr>
      </p:pic>
      <p:pic>
        <p:nvPicPr>
          <p:cNvPr id="8" name="Image 2" descr="C:/Users/SSAFY/Downloads/stay_back.gi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360" y="4846320"/>
            <a:ext cx="914400" cy="91440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731520" y="5852160"/>
            <a:ext cx="3200400" cy="0"/>
          </a:xfrm>
          <a:prstGeom prst="line">
            <a:avLst/>
          </a:prstGeom>
          <a:noFill/>
          <a:ln w="25400">
            <a:solidFill>
              <a:srgbClr val="FFD54F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73152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김회인  ·  gimhoein@gmail.com</a:t>
            </a:r>
            <a:endParaRPr lang="en-US" sz="1500" dirty="0"/>
          </a:p>
        </p:txBody>
      </p:sp>
      <p:sp>
        <p:nvSpPr>
          <p:cNvPr id="11" name="Text 6"/>
          <p:cNvSpPr/>
          <p:nvPr/>
        </p:nvSpPr>
        <p:spPr>
          <a:xfrm>
            <a:off x="731520" y="6400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0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S14 자율프로젝트  ·  광주 C201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Lost Memory — S14 자율프로젝트 발표</dc:title>
  <dc:subject>PptxGenJS Presentation</dc:subject>
  <dc:creator>김회인</dc:creator>
  <cp:lastModifiedBy>김회인</cp:lastModifiedBy>
  <cp:revision>1</cp:revision>
  <dcterms:created xsi:type="dcterms:W3CDTF">2026-05-19T12:46:53Z</dcterms:created>
  <dcterms:modified xsi:type="dcterms:W3CDTF">2026-05-19T12:46:53Z</dcterms:modified>
</cp:coreProperties>
</file>